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tema: alocação de VMs em data centers, otimizando energia e desperdício ao mesmo tempo, com um algoritmo de colônia de formigas (VMPACS), baseado em Gao et al. (2013).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Consolidação: em vez de 1 VM por servidor, agrupamos VMs para ligar menos máquinas, sem desbalancear CPU 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objetivos competem: a resposta não é uma solução única, e sim um conjunto de soluções não-dominadas (fronteira de Pareto).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 = energia (depende do número de servidores ligados). f2 = desperdício (desbalanceamento CPU/memória). Restrições: cada VM em 1 servidor e limites de capacidade.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ingredientes: feromônio (aprendizado), heurística (guia do problema) e o arquivo de Pareto com as melhores soluções.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Construção gulosa-probabilística: a formiga enche um servidor de cada vez, escolhendo VMs pela combinação feromônio+heurística, até alocar todas.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NSGA-II: ordenação por não-dominância + crowding. Usamos codificação por permutação com decodificador first-fit.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 VMs, 5 correlações, orçamentos equiparados em ~1000 avaliações, 4 métricas e 10 execuções.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de energia e desperdício por correlação. NSGA-II em geral leva vantagem; em P=0.5 o VMPACS empata/ganha no desperdício.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cinza e a fronteira REAL (melhor conhecida): existe um trade-off, porem raso. Os algoritmos convergem para o joelho de menor energia; o NSGA-II encosta na fronteira e o VMPACS fica um pouco acima (minimiza servidores, equilibra menos).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principais: NSGA-II converge melhor; VMPACS mais diverso em correlação negativa; objetivos quase alinhados -&gt; fronteira compacta; efeito da correlação.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os três aprendizados e os trabalhos futuros. Agradecer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90688" y="1024128"/>
            <a:ext cx="640080" cy="640080"/>
          </a:xfrm>
          <a:prstGeom prst="line">
            <a:avLst/>
          </a:prstGeom>
          <a:noFill/>
          <a:ln w="19050">
            <a:solidFill>
              <a:srgbClr val="0E7C86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30768" y="1664208"/>
            <a:ext cx="-822960" cy="548640"/>
          </a:xfrm>
          <a:prstGeom prst="line">
            <a:avLst/>
          </a:prstGeom>
          <a:noFill/>
          <a:ln w="19050">
            <a:solidFill>
              <a:srgbClr val="0E7C86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07808" y="2212848"/>
            <a:ext cx="1005840" cy="731520"/>
          </a:xfrm>
          <a:prstGeom prst="line">
            <a:avLst/>
          </a:prstGeom>
          <a:noFill/>
          <a:ln w="19050">
            <a:solidFill>
              <a:srgbClr val="0E7C86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13648" y="2944368"/>
            <a:ext cx="-640080" cy="640080"/>
          </a:xfrm>
          <a:prstGeom prst="line">
            <a:avLst/>
          </a:prstGeom>
          <a:noFill/>
          <a:ln w="19050">
            <a:solidFill>
              <a:srgbClr val="0E7C86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914400"/>
            <a:ext cx="219456" cy="21945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Shape 5"/>
          <p:cNvSpPr/>
          <p:nvPr/>
        </p:nvSpPr>
        <p:spPr>
          <a:xfrm>
            <a:off x="8321040" y="155448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0" y="2103120"/>
            <a:ext cx="219456" cy="21945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283464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0" y="3474720"/>
            <a:ext cx="219456" cy="21945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de Algoritmos Bioinspirados  - 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14173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Alocação de Máquinas Virtuais na Nuvem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40080" y="24688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ADC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bioobjetivo com Colônia de Formigas (VMPACS)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58368" y="3246120"/>
            <a:ext cx="292608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</a:t>
            </a:r>
            <a:pPr indent="0" marL="0">
              <a:buNone/>
            </a:pPr>
            <a:r>
              <a:rPr lang="en-US" sz="16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x 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Desperdício de recursos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Rivetti   e   Ian Nunes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3108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alocação de VMs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EEF3F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1691640"/>
            <a:ext cx="3703320" cy="2834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em qual servidor físico cada máquina virtual (VM) será executada.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VMs em poucos servidores e desligar os ociosos economiza energia.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servidores mal balanceados (CPU cheia, memória vazia) desperdiçam recursos.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variante do empacotamento vetorial: NP-difícil (m^n alocações possíveis).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120640" y="1234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20640" y="1600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7 servidores subutilizados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138928" y="19202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D6E2E4"/>
          </a:solidFill>
          <a:ln w="9525">
            <a:solidFill>
              <a:srgbClr val="2C3E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48656" y="2075688"/>
            <a:ext cx="164592" cy="164592"/>
          </a:xfrm>
          <a:prstGeom prst="ellipse">
            <a:avLst/>
          </a:prstGeom>
          <a:solidFill>
            <a:srgbClr val="2C3E50"/>
          </a:solidFill>
          <a:ln/>
        </p:spPr>
      </p:sp>
      <p:sp>
        <p:nvSpPr>
          <p:cNvPr id="13" name="Shape 11"/>
          <p:cNvSpPr/>
          <p:nvPr/>
        </p:nvSpPr>
        <p:spPr>
          <a:xfrm>
            <a:off x="5614416" y="19202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D6E2E4"/>
          </a:solidFill>
          <a:ln w="9525">
            <a:solidFill>
              <a:srgbClr val="2C3E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24144" y="2075688"/>
            <a:ext cx="164592" cy="164592"/>
          </a:xfrm>
          <a:prstGeom prst="ellipse">
            <a:avLst/>
          </a:prstGeom>
          <a:solidFill>
            <a:srgbClr val="2C3E5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9202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D6E2E4"/>
          </a:solidFill>
          <a:ln w="9525">
            <a:solidFill>
              <a:srgbClr val="2C3E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2075688"/>
            <a:ext cx="164592" cy="164592"/>
          </a:xfrm>
          <a:prstGeom prst="ellipse">
            <a:avLst/>
          </a:prstGeom>
          <a:solidFill>
            <a:srgbClr val="2C3E50"/>
          </a:solidFill>
          <a:ln/>
        </p:spPr>
      </p:sp>
      <p:sp>
        <p:nvSpPr>
          <p:cNvPr id="17" name="Shape 15"/>
          <p:cNvSpPr/>
          <p:nvPr/>
        </p:nvSpPr>
        <p:spPr>
          <a:xfrm>
            <a:off x="6565392" y="19202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D6E2E4"/>
          </a:solidFill>
          <a:ln w="9525">
            <a:solidFill>
              <a:srgbClr val="2C3E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0" y="2075688"/>
            <a:ext cx="164592" cy="164592"/>
          </a:xfrm>
          <a:prstGeom prst="ellipse">
            <a:avLst/>
          </a:prstGeom>
          <a:solidFill>
            <a:srgbClr val="2C3E50"/>
          </a:solidFill>
          <a:ln/>
        </p:spPr>
      </p:sp>
      <p:sp>
        <p:nvSpPr>
          <p:cNvPr id="19" name="Shape 17"/>
          <p:cNvSpPr/>
          <p:nvPr/>
        </p:nvSpPr>
        <p:spPr>
          <a:xfrm>
            <a:off x="7040880" y="19202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D6E2E4"/>
          </a:solidFill>
          <a:ln w="9525">
            <a:solidFill>
              <a:srgbClr val="2C3E5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50608" y="2075688"/>
            <a:ext cx="164592" cy="164592"/>
          </a:xfrm>
          <a:prstGeom prst="ellipse">
            <a:avLst/>
          </a:prstGeom>
          <a:solidFill>
            <a:srgbClr val="2C3E50"/>
          </a:solidFill>
          <a:ln/>
        </p:spPr>
      </p:sp>
      <p:sp>
        <p:nvSpPr>
          <p:cNvPr id="21" name="Shape 19"/>
          <p:cNvSpPr/>
          <p:nvPr/>
        </p:nvSpPr>
        <p:spPr>
          <a:xfrm>
            <a:off x="7516368" y="19202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D6E2E4"/>
          </a:solidFill>
          <a:ln w="9525">
            <a:solidFill>
              <a:srgbClr val="2C3E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26096" y="2075688"/>
            <a:ext cx="164592" cy="164592"/>
          </a:xfrm>
          <a:prstGeom prst="ellipse">
            <a:avLst/>
          </a:prstGeom>
          <a:solidFill>
            <a:srgbClr val="2C3E50"/>
          </a:solidFill>
          <a:ln/>
        </p:spPr>
      </p:sp>
      <p:sp>
        <p:nvSpPr>
          <p:cNvPr id="23" name="Shape 21"/>
          <p:cNvSpPr/>
          <p:nvPr/>
        </p:nvSpPr>
        <p:spPr>
          <a:xfrm>
            <a:off x="7991856" y="19202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D6E2E4"/>
          </a:solidFill>
          <a:ln w="9525">
            <a:solidFill>
              <a:srgbClr val="2C3E5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01584" y="2075688"/>
            <a:ext cx="164592" cy="164592"/>
          </a:xfrm>
          <a:prstGeom prst="ellipse">
            <a:avLst/>
          </a:prstGeom>
          <a:solidFill>
            <a:srgbClr val="2C3E50"/>
          </a:solidFill>
          <a:ln/>
        </p:spPr>
      </p:sp>
      <p:sp>
        <p:nvSpPr>
          <p:cNvPr id="25" name="Shape 23"/>
          <p:cNvSpPr/>
          <p:nvPr/>
        </p:nvSpPr>
        <p:spPr>
          <a:xfrm>
            <a:off x="6812280" y="2514600"/>
            <a:ext cx="0" cy="457200"/>
          </a:xfrm>
          <a:prstGeom prst="line">
            <a:avLst/>
          </a:prstGeom>
          <a:noFill/>
          <a:ln w="317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3063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Depois: 3 servidores bem ocupados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0" y="338328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D2ECE9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22392" y="3502152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9" name="Shape 27"/>
          <p:cNvSpPr/>
          <p:nvPr/>
        </p:nvSpPr>
        <p:spPr>
          <a:xfrm>
            <a:off x="5769864" y="3502152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22392" y="3849624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1" name="Shape 29"/>
          <p:cNvSpPr/>
          <p:nvPr/>
        </p:nvSpPr>
        <p:spPr>
          <a:xfrm>
            <a:off x="5769864" y="3849624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2" name="Shape 30"/>
          <p:cNvSpPr/>
          <p:nvPr/>
        </p:nvSpPr>
        <p:spPr>
          <a:xfrm>
            <a:off x="6355080" y="338328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D2ECE9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73952" y="3502152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4" name="Shape 32"/>
          <p:cNvSpPr/>
          <p:nvPr/>
        </p:nvSpPr>
        <p:spPr>
          <a:xfrm>
            <a:off x="6821424" y="3502152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5" name="Shape 33"/>
          <p:cNvSpPr/>
          <p:nvPr/>
        </p:nvSpPr>
        <p:spPr>
          <a:xfrm>
            <a:off x="6473952" y="3849624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6" name="Shape 34"/>
          <p:cNvSpPr/>
          <p:nvPr/>
        </p:nvSpPr>
        <p:spPr>
          <a:xfrm>
            <a:off x="6821424" y="3849624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7" name="Shape 35"/>
          <p:cNvSpPr/>
          <p:nvPr/>
        </p:nvSpPr>
        <p:spPr>
          <a:xfrm>
            <a:off x="7406640" y="338328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D2ECE9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525512" y="3502152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9" name="Shape 37"/>
          <p:cNvSpPr/>
          <p:nvPr/>
        </p:nvSpPr>
        <p:spPr>
          <a:xfrm>
            <a:off x="7872984" y="3502152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0" name="Shape 38"/>
          <p:cNvSpPr/>
          <p:nvPr/>
        </p:nvSpPr>
        <p:spPr>
          <a:xfrm>
            <a:off x="7525512" y="3849624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1" name="Shape 39"/>
          <p:cNvSpPr/>
          <p:nvPr/>
        </p:nvSpPr>
        <p:spPr>
          <a:xfrm>
            <a:off x="7872984" y="3849624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3108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objetivos em conflito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690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1732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 de energia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2148840"/>
            <a:ext cx="35661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 cresce linear com o uso de CPU.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Servidores ociosos são desligados.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Minimizar energia ~ usar menos servidores.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17720" y="1188720"/>
            <a:ext cx="40690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92040" y="141732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57784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Desperdício de recursos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37760" y="2148840"/>
            <a:ext cx="35661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Penaliza desbalanceamento entre CPU e memória.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Servidores muito cheios ou vazios desperdiçam.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Minimizar = empacotar de forma equilibrada.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5323B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384048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Conflito:  </a:t>
            </a:r>
            <a:pPr indent="0" marL="0">
              <a:buNone/>
            </a:pPr>
            <a:r>
              <a:rPr lang="en-US" sz="1500" dirty="0">
                <a:solidFill>
                  <a:srgbClr val="CADC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servidores pode desbalancear -&gt; buscamos o conjunto de melhores compromissos (a </a:t>
            </a:r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fronteira de Pareto</a:t>
            </a:r>
            <a:pPr indent="0" marL="0">
              <a:buNone/>
            </a:pPr>
            <a:r>
              <a:rPr lang="en-US" sz="1500" dirty="0">
                <a:solidFill>
                  <a:srgbClr val="CADC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3108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Formulação matemática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2468880"/>
          </a:xfrm>
          <a:prstGeom prst="roundRect">
            <a:avLst>
              <a:gd name="adj" fmla="val 2963"/>
            </a:avLst>
          </a:prstGeom>
          <a:solidFill>
            <a:srgbClr val="EEF3F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0" descr="/tmp/proj/img_formulaca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325880"/>
            <a:ext cx="7498080" cy="2103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binárias:  </a:t>
            </a:r>
            <a:pPr algn="ctr" indent="0" marL="0">
              <a:buNone/>
            </a:pPr>
            <a:r>
              <a:rPr lang="en-US" sz="14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algn="ctr" indent="0" marL="0">
              <a:buNone/>
            </a:pPr>
            <a:r>
              <a:rPr lang="en-US" sz="1400" i="1" baseline="-40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ij</a:t>
            </a:r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VM i no servidor j;   </a:t>
            </a:r>
            <a:pPr algn="ctr" indent="0" marL="0">
              <a:buNone/>
            </a:pPr>
            <a:r>
              <a:rPr lang="en-US" sz="14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algn="ctr" indent="0" marL="0">
              <a:buNone/>
            </a:pPr>
            <a:r>
              <a:rPr lang="en-US" sz="1400" i="1" baseline="-40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servidor j em uso.   Limites T</a:t>
            </a:r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90%   |   P_idle=162W, P_busy=215W.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34747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VMPACS: a metáfora das formigas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Formigas depositam feromônio nos bons caminhos; caminhos bons atraem mais formigas. Aqui, cada formiga constrói uma alocação e reforça os bons movimentos (VM -&gt; servidor).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2651760" cy="2651760"/>
          </a:xfrm>
          <a:prstGeom prst="roundRect">
            <a:avLst>
              <a:gd name="adj" fmla="val 2759"/>
            </a:avLst>
          </a:prstGeom>
          <a:solidFill>
            <a:srgbClr val="1C3F49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210312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743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Feromônio (tau)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32461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do que funcionou: movimentos usados por boas soluções ganham mais feromônio.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64408" y="1874520"/>
            <a:ext cx="2651760" cy="2651760"/>
          </a:xfrm>
          <a:prstGeom prst="roundRect">
            <a:avLst>
              <a:gd name="adj" fmla="val 2759"/>
            </a:avLst>
          </a:prstGeom>
          <a:solidFill>
            <a:srgbClr val="1C3F49"/>
          </a:solidFill>
          <a:ln/>
        </p:spPr>
      </p:sp>
      <p:sp>
        <p:nvSpPr>
          <p:cNvPr id="12" name="Shape 10"/>
          <p:cNvSpPr/>
          <p:nvPr/>
        </p:nvSpPr>
        <p:spPr>
          <a:xfrm>
            <a:off x="3493008" y="2103120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34930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65576" y="2743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Heurística (eta)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65576" y="32461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do problema: prioriza movimentos que poupam energia e equilibram recursos.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071616" y="1874520"/>
            <a:ext cx="2651760" cy="2651760"/>
          </a:xfrm>
          <a:prstGeom prst="roundRect">
            <a:avLst>
              <a:gd name="adj" fmla="val 2759"/>
            </a:avLst>
          </a:prstGeom>
          <a:solidFill>
            <a:srgbClr val="1C3F49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0216" y="2103120"/>
            <a:ext cx="566928" cy="566928"/>
          </a:xfrm>
          <a:prstGeom prst="ellipse">
            <a:avLst/>
          </a:prstGeom>
          <a:solidFill>
            <a:srgbClr val="6AA9AE"/>
          </a:solidFill>
          <a:ln/>
        </p:spPr>
      </p:sp>
      <p:sp>
        <p:nvSpPr>
          <p:cNvPr id="18" name="Text 16"/>
          <p:cNvSpPr/>
          <p:nvPr/>
        </p:nvSpPr>
        <p:spPr>
          <a:xfrm>
            <a:off x="630021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272784" y="2743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Arquivo de Pareto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72784" y="32461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as soluções não-dominadas; só elas reforçam o feromônio (atualização global).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3108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VMPACS: como uma formiga constrói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43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112471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Abre um servidor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4630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 um novo servidor (host) para receber VMs.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299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2011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Escolhe a próxima VM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3500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pseudoaleatória: combina feromônio + heurística (q0=0.8 intensifica, senão explora).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916936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916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80160" y="28986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Atualização local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323697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cada movimento, evapora um pouco do feromônio para diversificar.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280160" y="3785616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Atualização global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80160" y="412394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fim da iteração, as soluções de Pareto reforçam seus movimentos.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800600" y="1143000"/>
            <a:ext cx="3886200" cy="3291840"/>
          </a:xfrm>
          <a:prstGeom prst="roundRect">
            <a:avLst>
              <a:gd name="adj" fmla="val 2222"/>
            </a:avLst>
          </a:prstGeom>
          <a:solidFill>
            <a:srgbClr val="EEF3F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02920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 de escolha do movimento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0" y="1737360"/>
            <a:ext cx="3429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intensificar (q &lt;= q0):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o movimento com maior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alpha*tau + (1-alpha)*eta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(q &gt; q0):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sorteia proporcional a esse valor.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até alocar todas as VMs; cada formiga gera uma solução completa.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3108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Comparação: NSGA-II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genético multiobjetivo mais usado (Deb et al., 2002) - assim como o artigo compara o VMPACS com um algoritmo genético.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EEF3F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874520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280160" y="1874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Ordenação não-dominada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13232" y="24231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 a população em frentes de Pareto sucessivas (frente 0 = melhores).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69164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EEF3F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92040" y="1874520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86400" y="1874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Distância de multidão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19472" y="24231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o isolamento de cada solução para manter a fronteira bem espalhada (diversidade).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42900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429000"/>
            <a:ext cx="7680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Codificação: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indivíduo é uma permutação das VMs, decodificada por first-fit (sempre válida). </a:t>
            </a:r>
            <a:pPr indent="0" marL="0">
              <a:buNone/>
            </a:pPr>
            <a:r>
              <a:rPr lang="en-US" sz="1400" b="1" dirty="0">
                <a:solidFill>
                  <a:srgbClr val="1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Operadores: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Crossover (OX) + mutação por troca; seleção por torneio e elitismo.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3108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Metodologia experimental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EEF3F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389888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89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371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Instâncias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1874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 VMs e 100 servidores; 5 níveis de correlação CPU/memória (P de 0 a 1); limites de 90%.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118872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EEF3F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37760" y="1389888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389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32120" y="1371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Parâmetros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83480" y="1874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VMPACS: 10 formigas x 100 iterações. NSGA-II: pop. 50 x 20 gerações. ~1000 avaliações cada (justo).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EEF3F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" y="3081528"/>
            <a:ext cx="457200" cy="457200"/>
          </a:xfrm>
          <a:prstGeom prst="ellipse">
            <a:avLst/>
          </a:prstGeom>
          <a:solidFill>
            <a:srgbClr val="2C3E50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8016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(4)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35661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Hipervolume e IGD (convergência), ONVG (cardinalidade), Spacing (uniformidade).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709160" y="288036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EEF3F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3081528"/>
            <a:ext cx="457200" cy="457200"/>
          </a:xfrm>
          <a:prstGeom prst="ellipse">
            <a:avLst/>
          </a:prstGeom>
          <a:solidFill>
            <a:srgbClr val="6AA9AE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21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Execuções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83480" y="35661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repetições independentes por configuração; média +/- desvio-padrão.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3108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energia e desperdício</a:t>
            </a:r>
            <a:endParaRPr lang="en-US" sz="2600" dirty="0"/>
          </a:p>
        </p:txBody>
      </p:sp>
      <p:pic>
        <p:nvPicPr>
          <p:cNvPr id="5" name="Image 0" descr="/tmp/proj/resultados/figuras/energia_barr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43000"/>
            <a:ext cx="4206240" cy="2697480"/>
          </a:xfrm>
          <a:prstGeom prst="rect">
            <a:avLst/>
          </a:prstGeom>
        </p:spPr>
      </p:pic>
      <p:pic>
        <p:nvPicPr>
          <p:cNvPr id="6" name="Image 1" descr="/tmp/proj/resultados/figuras/desperdicio_barra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1143000"/>
            <a:ext cx="4206240" cy="26974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5323B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77240" y="397764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 </a:t>
            </a:r>
            <a:pPr indent="0" marL="0">
              <a:buNone/>
            </a:pPr>
            <a:r>
              <a:rPr lang="en-US" sz="1400" dirty="0">
                <a:solidFill>
                  <a:srgbClr val="E8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NSGA-II atinge menor energia em 4 de 5 cenários e menor desperdício em 4 de 5 (exceção em P=0.5).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3108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métricas multiobjetivo</a:t>
            </a:r>
            <a:endParaRPr lang="en-US" sz="2600" dirty="0"/>
          </a:p>
        </p:txBody>
      </p:sp>
      <p:pic>
        <p:nvPicPr>
          <p:cNvPr id="5" name="Image 0" descr="/tmp/proj/resultados/figuras/hipervolume_barr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097280"/>
            <a:ext cx="2971800" cy="1920240"/>
          </a:xfrm>
          <a:prstGeom prst="rect">
            <a:avLst/>
          </a:prstGeom>
        </p:spPr>
      </p:pic>
      <p:pic>
        <p:nvPicPr>
          <p:cNvPr id="6" name="Image 1" descr="/tmp/proj/resultados/figuras/igd_barra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83280" y="1097280"/>
            <a:ext cx="2971800" cy="19202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92240" y="1097280"/>
            <a:ext cx="2286000" cy="1920240"/>
          </a:xfrm>
          <a:prstGeom prst="roundRect">
            <a:avLst>
              <a:gd name="adj" fmla="val 3810"/>
            </a:avLst>
          </a:prstGeom>
          <a:solidFill>
            <a:srgbClr val="EEF3F4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6629400" y="1234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Convergência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629400" y="1600200"/>
            <a:ext cx="20574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 maior = melhor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IGD menor = melhor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real e raso</a:t>
            </a:r>
            <a:endParaRPr lang="en-US" sz="1200" dirty="0"/>
          </a:p>
        </p:txBody>
      </p:sp>
      <p:pic>
        <p:nvPicPr>
          <p:cNvPr id="10" name="Image 2" descr="/tmp/proj/fronteiras_slid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0040" y="3017520"/>
            <a:ext cx="850392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3108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Discussão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188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Convergência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3611880" y="1188720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NSGA-II converge para menor energia e desperdício (maior HV, menor IGD) na maioria dos casos.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07568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Diversidade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611880" y="202996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VMPACS encontra mais soluções não-dominadas (ONVG) em correlações negativas.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2916936"/>
            <a:ext cx="365760" cy="365760"/>
          </a:xfrm>
          <a:prstGeom prst="ellipse">
            <a:avLst/>
          </a:prstGeom>
          <a:solidFill>
            <a:srgbClr val="2C3E50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287121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Fronteira compacta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611880" y="2871216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Empacotar bem reduz energia E desperdício juntos: objetivos quase alinhados.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365760" cy="365760"/>
          </a:xfrm>
          <a:prstGeom prst="ellipse">
            <a:avLst/>
          </a:prstGeom>
          <a:solidFill>
            <a:srgbClr val="6AA9AE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7124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importa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611880" y="3712464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P=0.75 (CPU e mem. altas juntas) gera o maior desperdício; balancear fica difícil.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7280" y="34747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Conclusões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23444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Implementamos o VMPACS (colônia de formigas) e o NSGA-II no problema bioobjetivo de alocação de VMs.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167128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671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207568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orçamentos iguais, o NSGA-II convergiu melhor; o VMPACS ofereceu fronteiras um pouco mais diversas.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008376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0083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2916936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estas instâncias os objetivos são quase alinhados, gerando fronteiras de Pareto compactas - um resultado instrutivo.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8001000" cy="713232"/>
          </a:xfrm>
          <a:prstGeom prst="roundRect">
            <a:avLst>
              <a:gd name="adj" fmla="val 10256"/>
            </a:avLst>
          </a:prstGeom>
          <a:solidFill>
            <a:srgbClr val="1C3F49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" y="3977640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futuros:  </a:t>
            </a:r>
            <a:pPr indent="0" marL="0">
              <a:buNone/>
            </a:pPr>
            <a:r>
              <a:rPr lang="en-US" sz="1350" dirty="0">
                <a:solidFill>
                  <a:srgbClr val="CADC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instâncias maiores (n=2000), servidores heterogêneos e variantes do VMPACS com mais diversidade.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VMPACS - Alocacao de VMs</dc:title>
  <dc:subject>PptxGenJS Presentation</dc:subject>
  <dc:creator>Lucas Rivetti e Ian Nunes</dc:creator>
  <cp:lastModifiedBy>Lucas Rivetti e Ian Nunes</cp:lastModifiedBy>
  <cp:revision>1</cp:revision>
  <dcterms:created xsi:type="dcterms:W3CDTF">2026-06-26T15:22:35Z</dcterms:created>
  <dcterms:modified xsi:type="dcterms:W3CDTF">2026-06-26T15:22:35Z</dcterms:modified>
</cp:coreProperties>
</file>