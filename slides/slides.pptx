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tema: alocação de VMs em data centers, otimizando energia e desperdício ao mesmo tempo, com colônia de formigas (VMPACS), baseado em Gao et al. (2013).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Consolidação: agrupar VMs para ligar menos máquinas, sem desbalancear CPU e memória.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objetivos competem: a resposta é um conjunto de soluções não-dominadas (fronteira de Pareto).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f1 = energia (nº de servidores ligados). f2 = desperdício (desbalanceamento CPU/memória). Restrições: cada VM em 1 servidor e limites de capacidade.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ingredientes: feromônio (aprendizado), heurística (guia do problema) e o arquivo de Pareto com as melhores soluções.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Construção gulosa-probabilística: enche um servidor de cada vez, escolhendo VMs por feromônio+heurística, até alocar todas.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NSGA-II: ordenação por não-dominância + crowding. Codificação por permutação com decodificador first-fit.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 VMs, 5 correlações, orçamentos equiparados em ~1000 avaliações, 4 métricas, 10 execuções.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Barras de energia e desperdício por correlação. NSGA-II em geral leva vantagem; em P=0.5 o VMPACS empata/ganha no desperdício.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cinza e a fronteira REAL (melhor conhecida): trade-off existe, porem raso. Os algoritmos convergem para o joelho de menor energia; o NSGA-II encosta na fronteira e o VMPACS fica um pouco acima.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principais: NSGA-II converge melhor; VMPACS mais diverso em correlação negativa; objetivos quase alinhados; efeito da correlação.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os três aprendizados e os trabalhos futuros.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fechamento: agradecer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90688" y="1024128"/>
            <a:ext cx="640080" cy="640080"/>
          </a:xfrm>
          <a:prstGeom prst="line">
            <a:avLst/>
          </a:prstGeom>
          <a:noFill/>
          <a:ln w="19050">
            <a:solidFill>
              <a:srgbClr val="0E7C86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1664208"/>
            <a:ext cx="-822960" cy="548640"/>
          </a:xfrm>
          <a:prstGeom prst="line">
            <a:avLst/>
          </a:prstGeom>
          <a:noFill/>
          <a:ln w="19050">
            <a:solidFill>
              <a:srgbClr val="0E7C86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07808" y="2212848"/>
            <a:ext cx="1005840" cy="731520"/>
          </a:xfrm>
          <a:prstGeom prst="line">
            <a:avLst/>
          </a:prstGeom>
          <a:noFill/>
          <a:ln w="19050">
            <a:solidFill>
              <a:srgbClr val="0E7C86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13648" y="2944368"/>
            <a:ext cx="-640080" cy="640080"/>
          </a:xfrm>
          <a:prstGeom prst="line">
            <a:avLst/>
          </a:prstGeom>
          <a:noFill/>
          <a:ln w="19050">
            <a:solidFill>
              <a:srgbClr val="0E7C86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914400"/>
            <a:ext cx="219456" cy="21945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0" y="1554480"/>
            <a:ext cx="219456" cy="21945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2103120"/>
            <a:ext cx="219456" cy="21945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2834640"/>
            <a:ext cx="219456" cy="21945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Shape 8"/>
          <p:cNvSpPr/>
          <p:nvPr/>
        </p:nvSpPr>
        <p:spPr>
          <a:xfrm>
            <a:off x="7863840" y="3474720"/>
            <a:ext cx="219456" cy="21945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de Algoritmos Bioinspirados  -  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14173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Alocação de Máquinas Virtuais na Nuvem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40080" y="2468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bioobjetivo com Colônia de Formigas (VMPACS)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58368" y="3246120"/>
            <a:ext cx="292608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</a:t>
            </a:r>
            <a:pPr indent="0" marL="0">
              <a:buNone/>
            </a:pPr>
            <a:r>
              <a:rPr lang="en-US" sz="16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x  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Desperdício de recursos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Rivetti   e   Ian Nunes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29600" y="48097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problema: alocação de VMs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EEF3F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703320" cy="2834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em qual servidor físico cada máquina virtual (VM) será executada.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VMs em poucos servidores e desligar os ociosos economiza energia.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servidores mal balanceados (CPU cheia, memória vazia) desperdiçam recursos.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variante do empacotamento vetorial: NP-difícil (m^n alocações possíveis).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37760" y="1097280"/>
            <a:ext cx="37490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Consolidação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7 servidores subutilizados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38928" y="19202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D6E2E4"/>
          </a:solidFill>
          <a:ln w="9525">
            <a:solidFill>
              <a:srgbClr val="2C3E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48656" y="2075688"/>
            <a:ext cx="164592" cy="164592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13" name="Shape 11"/>
          <p:cNvSpPr/>
          <p:nvPr/>
        </p:nvSpPr>
        <p:spPr>
          <a:xfrm>
            <a:off x="5614416" y="19202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D6E2E4"/>
          </a:solidFill>
          <a:ln w="9525">
            <a:solidFill>
              <a:srgbClr val="2C3E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24144" y="2075688"/>
            <a:ext cx="164592" cy="164592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9904" y="19202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D6E2E4"/>
          </a:solidFill>
          <a:ln w="9525">
            <a:solidFill>
              <a:srgbClr val="2C3E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2075688"/>
            <a:ext cx="164592" cy="164592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17" name="Shape 15"/>
          <p:cNvSpPr/>
          <p:nvPr/>
        </p:nvSpPr>
        <p:spPr>
          <a:xfrm>
            <a:off x="6565392" y="19202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D6E2E4"/>
          </a:solidFill>
          <a:ln w="9525">
            <a:solidFill>
              <a:srgbClr val="2C3E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2075688"/>
            <a:ext cx="164592" cy="164592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0" y="19202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D6E2E4"/>
          </a:solidFill>
          <a:ln w="9525">
            <a:solidFill>
              <a:srgbClr val="2C3E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50608" y="2075688"/>
            <a:ext cx="164592" cy="164592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21" name="Shape 19"/>
          <p:cNvSpPr/>
          <p:nvPr/>
        </p:nvSpPr>
        <p:spPr>
          <a:xfrm>
            <a:off x="7516368" y="19202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D6E2E4"/>
          </a:solidFill>
          <a:ln w="9525">
            <a:solidFill>
              <a:srgbClr val="2C3E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26096" y="2075688"/>
            <a:ext cx="164592" cy="164592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23" name="Shape 21"/>
          <p:cNvSpPr/>
          <p:nvPr/>
        </p:nvSpPr>
        <p:spPr>
          <a:xfrm>
            <a:off x="7991856" y="19202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D6E2E4"/>
          </a:solidFill>
          <a:ln w="9525">
            <a:solidFill>
              <a:srgbClr val="2C3E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01584" y="2075688"/>
            <a:ext cx="164592" cy="164592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25" name="Shape 23"/>
          <p:cNvSpPr/>
          <p:nvPr/>
        </p:nvSpPr>
        <p:spPr>
          <a:xfrm>
            <a:off x="6812280" y="2514600"/>
            <a:ext cx="0" cy="45720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12064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 3 servidores bem ocupados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0" y="338328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D2ECE9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22392" y="3502152"/>
            <a:ext cx="237744" cy="23774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9" name="Shape 27"/>
          <p:cNvSpPr/>
          <p:nvPr/>
        </p:nvSpPr>
        <p:spPr>
          <a:xfrm>
            <a:off x="5769864" y="3502152"/>
            <a:ext cx="237744" cy="23774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0" name="Shape 28"/>
          <p:cNvSpPr/>
          <p:nvPr/>
        </p:nvSpPr>
        <p:spPr>
          <a:xfrm>
            <a:off x="5422392" y="3849624"/>
            <a:ext cx="237744" cy="23774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1" name="Shape 29"/>
          <p:cNvSpPr/>
          <p:nvPr/>
        </p:nvSpPr>
        <p:spPr>
          <a:xfrm>
            <a:off x="5769864" y="3849624"/>
            <a:ext cx="237744" cy="23774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2" name="Shape 30"/>
          <p:cNvSpPr/>
          <p:nvPr/>
        </p:nvSpPr>
        <p:spPr>
          <a:xfrm>
            <a:off x="6355080" y="338328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D2ECE9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73952" y="3502152"/>
            <a:ext cx="237744" cy="23774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4" name="Shape 32"/>
          <p:cNvSpPr/>
          <p:nvPr/>
        </p:nvSpPr>
        <p:spPr>
          <a:xfrm>
            <a:off x="6821424" y="3502152"/>
            <a:ext cx="237744" cy="23774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5" name="Shape 33"/>
          <p:cNvSpPr/>
          <p:nvPr/>
        </p:nvSpPr>
        <p:spPr>
          <a:xfrm>
            <a:off x="6473952" y="3849624"/>
            <a:ext cx="237744" cy="23774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6" name="Shape 34"/>
          <p:cNvSpPr/>
          <p:nvPr/>
        </p:nvSpPr>
        <p:spPr>
          <a:xfrm>
            <a:off x="6821424" y="3849624"/>
            <a:ext cx="237744" cy="23774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7" name="Shape 35"/>
          <p:cNvSpPr/>
          <p:nvPr/>
        </p:nvSpPr>
        <p:spPr>
          <a:xfrm>
            <a:off x="7406640" y="338328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D2ECE9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25512" y="3502152"/>
            <a:ext cx="237744" cy="23774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9" name="Shape 37"/>
          <p:cNvSpPr/>
          <p:nvPr/>
        </p:nvSpPr>
        <p:spPr>
          <a:xfrm>
            <a:off x="7872984" y="3502152"/>
            <a:ext cx="237744" cy="23774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0" name="Shape 38"/>
          <p:cNvSpPr/>
          <p:nvPr/>
        </p:nvSpPr>
        <p:spPr>
          <a:xfrm>
            <a:off x="7525512" y="3849624"/>
            <a:ext cx="237744" cy="23774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1" name="Shape 39"/>
          <p:cNvSpPr/>
          <p:nvPr/>
        </p:nvSpPr>
        <p:spPr>
          <a:xfrm>
            <a:off x="7872984" y="3849624"/>
            <a:ext cx="237744" cy="23774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3" name="Text 40"/>
          <p:cNvSpPr/>
          <p:nvPr/>
        </p:nvSpPr>
        <p:spPr>
          <a:xfrm>
            <a:off x="8229600" y="48097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objetivos em conflito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690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Consumo de energia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35661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Potência cresce linear com o uso de CPU.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ociosos são desligados.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energia ~ usar menos servidores.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17720" y="1188720"/>
            <a:ext cx="40690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41732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Desperdício de recursos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5661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 desbalanceamento entre CPU e memória.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muito cheios ou vazios desperdiçam.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= empacotar de forma equilibrada.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5323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84048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Conflito:  </a:t>
            </a:r>
            <a:pPr indent="0" marL="0">
              <a:buNone/>
            </a:pPr>
            <a:r>
              <a:rPr lang="en-US" sz="1500" dirty="0">
                <a:solidFill>
                  <a:srgbClr val="CA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servidores pode desbalancear -&gt; buscamos o conjunto de melhores compromissos (a </a:t>
            </a:r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 de Pareto</a:t>
            </a:r>
            <a:pPr indent="0" marL="0">
              <a:buNone/>
            </a:pPr>
            <a:r>
              <a:rPr lang="en-US" sz="1500" dirty="0">
                <a:solidFill>
                  <a:srgbClr val="CA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29600" y="48097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Formulação matemática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2468880"/>
          </a:xfrm>
          <a:prstGeom prst="roundRect">
            <a:avLst>
              <a:gd name="adj" fmla="val 2963"/>
            </a:avLst>
          </a:prstGeom>
          <a:solidFill>
            <a:srgbClr val="EEF3F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tmp/proj/img_formulaca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325880"/>
            <a:ext cx="7498080" cy="2103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binárias:  </a:t>
            </a:r>
            <a:pPr algn="ctr"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algn="ctr" indent="0" marL="0">
              <a:buNone/>
            </a:pPr>
            <a:r>
              <a:rPr lang="en-US" sz="1400" i="1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</a:t>
            </a:r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VM i no servidor j;   </a:t>
            </a:r>
            <a:pPr algn="ctr"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algn="ctr" indent="0" marL="0">
              <a:buNone/>
            </a:pPr>
            <a:r>
              <a:rPr lang="en-US" sz="1400" i="1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servidor j em uso.   Limites T</a:t>
            </a:r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90%   |   P_idle=162W, P_busy=215W.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0" y="48097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VMPACS: a metáfora das formigas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Formigas depositam feromônio nos bons caminhos; caminhos bons atraem mais formigas. Aqui, cada formiga constrói uma alocação e reforça os bons movimentos (VM -&gt; servidor).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1C3F49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10312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Feromônio (tau)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32461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do que funcionou: movimentos usados por boas soluções ganham mais feromônio.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64408" y="18745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1C3F49"/>
          </a:solidFill>
          <a:ln/>
        </p:spPr>
      </p:sp>
      <p:sp>
        <p:nvSpPr>
          <p:cNvPr id="12" name="Shape 10"/>
          <p:cNvSpPr/>
          <p:nvPr/>
        </p:nvSpPr>
        <p:spPr>
          <a:xfrm>
            <a:off x="3493008" y="2103120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349300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65576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Heurística (eta)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65576" y="32461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do problema: prioriza movimentos que poupam energia e equilibram recursos.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71616" y="18745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1C3F49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0216" y="2103120"/>
            <a:ext cx="566928" cy="566928"/>
          </a:xfrm>
          <a:prstGeom prst="ellipse">
            <a:avLst/>
          </a:prstGeom>
          <a:solidFill>
            <a:srgbClr val="6AA9AE"/>
          </a:solidFill>
          <a:ln/>
        </p:spPr>
      </p:sp>
      <p:sp>
        <p:nvSpPr>
          <p:cNvPr id="18" name="Text 16"/>
          <p:cNvSpPr/>
          <p:nvPr/>
        </p:nvSpPr>
        <p:spPr>
          <a:xfrm>
            <a:off x="6300216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72784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Arquivo de Pareto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72784" y="32461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as soluções não-dominadas; só elas reforçam o feromônio (atualização global).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229600" y="48097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VMPACS: como uma formiga constrói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1247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Abre um servidor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um novo servidor (host) para receber VMs.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29968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29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011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 a próxima VM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3500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pseudoaleatória: combina feromônio + heurística (q0=0.8 intensifica, senão explora).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16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28986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Atualização local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23697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cada movimento, evapora um pouco do feromônio para diversificar.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03904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78561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Atualização global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1239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fim da iteração, as soluções de Pareto reforçam seus movimentos.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00600" y="114300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EEF3F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de escolha do movimento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1737360"/>
            <a:ext cx="3429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intensificar (q &lt;= q0):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o movimento com maior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alpha*tau + (1-alpha)*eta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(q &gt; q0):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sorteia proporcional a esse valor.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até alocar todas as VMs; cada formiga gera uma solução completa.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8229600" y="48097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Comparação: NSGA-II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 multiobjetivo mais usado (Deb et al., 2002) - assim como o artigo compara o VMPACS com um algoritmo genético.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EEF3F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80160" y="1874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Ordenação não-dominada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4231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a população em frentes de Pareto sucessivas (frente 0 = melhores).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EEF3F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8745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0" y="1874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Distância de multidão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19472" y="24231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o isolamento de cada solução para manter a fronteira bem espalhada (diversidade).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42900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Codificação: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indivíduo é uma permutação das VMs, decodificada por first-fit (sempre válida). </a:t>
            </a:r>
            <a:pPr indent="0" marL="0">
              <a:buNone/>
            </a:pPr>
            <a:r>
              <a:rPr lang="en-US" sz="1400" b="1" dirty="0">
                <a:solidFill>
                  <a:srgbClr val="15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Operadores: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Crossover (OX) + mutação por troca; seleção por torneio e elitismo.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29600" y="48097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 experimental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EEF3F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8988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Instâncias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100 VMs e 100 servidores; 5 níveis de correlação CPU/memória (P de 0 a 1); limites de 90%.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EEF3F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38988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3212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Parâmetros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18745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VMPACS: 10 formigas x 100 iterações. NSGA-II: pop. 50 x 20 gerações. ~1000 avaliações cada (justo).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EEF3F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081528"/>
            <a:ext cx="457200" cy="45720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(4)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35661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Hipervolume e IGD (convergência), ONVG (cardinalidade), Spacing (uniformidade).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09160" y="288036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EEF3F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3081528"/>
            <a:ext cx="457200" cy="457200"/>
          </a:xfrm>
          <a:prstGeom prst="ellipse">
            <a:avLst/>
          </a:prstGeom>
          <a:solidFill>
            <a:srgbClr val="6AA9AE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212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Execuções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83480" y="35661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repetições independentes por configuração; média +/- desvio-padrão.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229600" y="48097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energia e desperdício</a:t>
            </a:r>
            <a:endParaRPr lang="en-US" sz="2600" dirty="0"/>
          </a:p>
        </p:txBody>
      </p:sp>
      <p:pic>
        <p:nvPicPr>
          <p:cNvPr id="5" name="Image 0" descr="/tmp/proj/resultados/figuras/energia_barr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43000"/>
            <a:ext cx="4206240" cy="2697480"/>
          </a:xfrm>
          <a:prstGeom prst="rect">
            <a:avLst/>
          </a:prstGeom>
        </p:spPr>
      </p:pic>
      <p:pic>
        <p:nvPicPr>
          <p:cNvPr id="6" name="Image 1" descr="/tmp/proj/resultados/figuras/desperdicio_barra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1143000"/>
            <a:ext cx="4206240" cy="26974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5323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77240" y="39776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 </a:t>
            </a:r>
            <a:pPr indent="0" marL="0">
              <a:buNone/>
            </a:pPr>
            <a:r>
              <a:rPr lang="en-US" sz="1400" dirty="0">
                <a:solidFill>
                  <a:srgbClr val="E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NSGA-II atinge menor energia em 4 de 5 cenários e menor desperdício em 4 de 5 (exceção em P=0.5).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8229600" y="48097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métricas multiobjetivo</a:t>
            </a:r>
            <a:endParaRPr lang="en-US" sz="2600" dirty="0"/>
          </a:p>
        </p:txBody>
      </p:sp>
      <p:pic>
        <p:nvPicPr>
          <p:cNvPr id="5" name="Image 0" descr="/tmp/proj/resultados/figuras/hipervolume_barr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97280"/>
            <a:ext cx="2971800" cy="1920240"/>
          </a:xfrm>
          <a:prstGeom prst="rect">
            <a:avLst/>
          </a:prstGeom>
        </p:spPr>
      </p:pic>
      <p:pic>
        <p:nvPicPr>
          <p:cNvPr id="6" name="Image 1" descr="/tmp/proj/resultados/figuras/igd_barra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83280" y="1097280"/>
            <a:ext cx="2971800" cy="1920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92240" y="1097280"/>
            <a:ext cx="2286000" cy="1920240"/>
          </a:xfrm>
          <a:prstGeom prst="roundRect">
            <a:avLst>
              <a:gd name="adj" fmla="val 3810"/>
            </a:avLst>
          </a:prstGeom>
          <a:solidFill>
            <a:srgbClr val="EEF3F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629400" y="1234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Convergência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629400" y="1600200"/>
            <a:ext cx="205740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 maior = melhor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IGD menor = melhor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real e raso</a:t>
            </a:r>
            <a:endParaRPr lang="en-US" sz="1200" dirty="0"/>
          </a:p>
        </p:txBody>
      </p:sp>
      <p:pic>
        <p:nvPicPr>
          <p:cNvPr id="10" name="Image 2" descr="/tmp/proj/fronteiras_slid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0040" y="3017520"/>
            <a:ext cx="8503920" cy="17830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29600" y="48097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188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Convergência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611880" y="11887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 converge para menor energia e desperdício (maior HV, menor IGD) na maioria dos casos.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075688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299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Diversidade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611880" y="202996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VMPACS encontra mais soluções não-dominadas (ONVG) em correlações negativas.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916936"/>
            <a:ext cx="365760" cy="36576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8712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Fronteira compacta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11880" y="287121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Empacotar bem reduz energia E desperdício juntos: objetivos quase alinhados.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365760" cy="365760"/>
          </a:xfrm>
          <a:prstGeom prst="ellipse">
            <a:avLst/>
          </a:prstGeom>
          <a:solidFill>
            <a:srgbClr val="6AA9AE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7124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importa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611880" y="371246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P=0.75 (CPU e mem. altas juntas) gera o maior desperdício; balancear fica difícil.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229600" y="48097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411480" cy="4114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23444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Implementamos o VMPACS (colônia de formigas) e o NSGA-II no problema bioobjetivo de alocação de VMs.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167128"/>
            <a:ext cx="411480" cy="4114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67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07568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orçamentos iguais, o NSGA-II convergiu melhor; o VMPACS ofereceu fronteiras um pouco mais diversas.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008376"/>
            <a:ext cx="411480" cy="4114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08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91693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estas instâncias os objetivos são quase alinhados, gerando fronteiras de Pareto compactas - um resultado instrutivo.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8001000" cy="713232"/>
          </a:xfrm>
          <a:prstGeom prst="roundRect">
            <a:avLst>
              <a:gd name="adj" fmla="val 10256"/>
            </a:avLst>
          </a:prstGeom>
          <a:solidFill>
            <a:srgbClr val="1C3F4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97764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futuros:  </a:t>
            </a:r>
            <a:pPr indent="0" marL="0">
              <a:buNone/>
            </a:pPr>
            <a:r>
              <a:rPr lang="en-US" sz="1350" dirty="0">
                <a:solidFill>
                  <a:srgbClr val="CA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instâncias maiores (n=2000), servidores heterogêneos e versão memética do VMPACS (com busca local).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229600" y="48097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E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Gao, Guan, Qi, Hou, Liu (2013). A multi-objective ant colony system algorithm for virtual machine placement in cloud computing. J. of Computer and System Sciences, 79(8), 1230-1242.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E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Deb, Pratap, Agarwal, Meyarivan (2002). A fast and elitist multiobjective genetic algorithm: NSGA-II. IEEE Trans. on Evolutionary Computation, 6(2), 182-197.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E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Dorigo, Gambardella (1997). Ant colony system: a cooperative learning approach to the TSP. IEEE Trans. on Evolutionary Computation, 1(1), 53-66.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E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Zitzler, Thiele (1999). Multiobjective evolutionary algorithms: a comparative case study and the strength Pareto approach. IEEE Trans. on Evol. Computation, 3(4), 257-271.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E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Van Veldhuizen (1999). Multiobjective Evolutionary Algorithms: Classifications, Analyses, and New Innovations. PhD thesis, Air Force Institute of Technology.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  Perguntas?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0" y="48097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VMPACS - Alocacao de VMs</dc:title>
  <dc:subject>PptxGenJS Presentation</dc:subject>
  <dc:creator>Lucas Rivetti e Ian Nunes</dc:creator>
  <cp:lastModifiedBy>Lucas Rivetti e Ian Nunes</cp:lastModifiedBy>
  <cp:revision>1</cp:revision>
  <dcterms:created xsi:type="dcterms:W3CDTF">2026-06-30T22:29:11Z</dcterms:created>
  <dcterms:modified xsi:type="dcterms:W3CDTF">2026-06-30T22:29:11Z</dcterms:modified>
</cp:coreProperties>
</file>